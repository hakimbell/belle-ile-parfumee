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FF6B6B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1828800" cy="18288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Arial"/>
              </a:rPr>
              <a:t>Belle Île Parfumée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3790" y="3063240"/>
            <a:ext cx="274320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B5BD"/>
                </a:solidFill>
                <a:latin typeface="Arial"/>
              </a:rPr>
              <a:t>Application E-commerce de vente de parfums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3790" y="4297680"/>
            <a:ext cx="2743200" cy="45720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3790" y="4370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Projet CDA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197FC"/>
                </a:solidFill>
                <a:latin typeface="Arial"/>
              </a:rPr>
              <a:t>Sommaire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536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536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Présentation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Besoins, objectifs, personas, graphisme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21408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12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Stack technique Frontend &amp;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779776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8529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Architecture 3-tiers et ses avantages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438144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35112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5112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Conception &amp; Modélisation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529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MERISE, MCD, MLD, MPD, UML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096512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169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1696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Sécurité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1879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Authentification JWT, autorisation RBAC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754879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482803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48280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Fonctionnalités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84631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Panier, code source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413248"/>
            <a:ext cx="502920" cy="438912"/>
          </a:xfrm>
          <a:prstGeom prst="roundRect">
            <a:avLst>
              <a:gd name="adj" fmla="val 2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486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D23"/>
                </a:solidFill>
                <a:latin typeface="Arial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Démonstration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55046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B5BD"/>
                </a:solidFill>
                <a:latin typeface="Arial"/>
              </a:rPr>
              <a:t>Application en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FF6B6B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Présentation du Projet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Contexte, besoins et objectifs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6B"/>
                </a:solidFill>
                <a:latin typeface="Arial"/>
              </a:rPr>
              <a:t>Besoins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Contexte et problématique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📋  Contexte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Auto-entrepreneur depuis 10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Vente de parfums grandes marques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Gestion manuelle (Excel, emails)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13716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6B6B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141732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⚠️  Problématique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Processus chronophage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Risque d'erreurs humaines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Mauvaise expérience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" y="3657600"/>
            <a:ext cx="11185855" cy="210312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11094415" cy="2011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03320"/>
            <a:ext cx="11094415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977639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🎯  Besoin identifié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480559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Digitaliser l'activité avec une plateforme e-commerce moderne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864607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Automatiser la gestion des stocks et la communication client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93D"/>
                </a:solidFill>
                <a:latin typeface="Arial"/>
              </a:rPr>
              <a:t>Objectifs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Ce que l'application doit accomplir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🎯  Automatiser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Gestion des stocks et communication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19" y="260604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B197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📦  Centraliser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Commandes et données en un seul endroit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84048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✨  Améliorer l'UX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Expérience d'achat fluide et moderne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507492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F783A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🔒  Sécuriser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Protection des données avec JWT et BCrypt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83AC"/>
                </a:solidFill>
                <a:latin typeface="Arial"/>
              </a:rPr>
              <a:t>Personas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Nos utilisateurs cibles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4480559"/>
          </a:xfrm>
          <a:prstGeom prst="roundRect">
            <a:avLst>
              <a:gd name="adj" fmla="val 8000"/>
            </a:avLst>
          </a:prstGeom>
          <a:solidFill>
            <a:srgbClr val="F783A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38912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783080"/>
            <a:ext cx="731520" cy="731520"/>
          </a:xfrm>
          <a:prstGeom prst="ellipse">
            <a:avLst/>
          </a:prstGeom>
          <a:solidFill>
            <a:srgbClr val="F783A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rial"/>
              </a:rPr>
              <a:t>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Sophie Martin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783AC"/>
                </a:solidFill>
                <a:latin typeface="Arial"/>
              </a:rPr>
              <a:t>Cliente régulière  •  34 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D4A8"/>
                </a:solidFill>
                <a:latin typeface="Arial"/>
              </a:rPr>
              <a:t>Objectifs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175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Acheter ses parfums préférés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37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Voir les nouveautés rapidement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657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Commander depuis son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Arial"/>
              </a:rPr>
              <a:t>Frustrations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4348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DB5BD"/>
                </a:solidFill>
                <a:latin typeface="Arial"/>
              </a:rPr>
              <a:t>✗  Attendre les emails du dimanche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548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DB5BD"/>
                </a:solidFill>
                <a:latin typeface="Arial"/>
              </a:rPr>
              <a:t>✗  Stock épuisé avant sa commande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2375" y="1371600"/>
            <a:ext cx="5486400" cy="4480559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8095" y="1417320"/>
            <a:ext cx="5394960" cy="438912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22415" y="1783080"/>
            <a:ext cx="731520" cy="731520"/>
          </a:xfrm>
          <a:prstGeom prst="ellipse">
            <a:avLst/>
          </a:prstGeom>
          <a:solidFill>
            <a:srgbClr val="74C0FC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2415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Arial"/>
              </a:rPr>
              <a:t>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6815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Marc Dupont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6815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4C0FC"/>
                </a:solidFill>
                <a:latin typeface="Arial"/>
              </a:rPr>
              <a:t>Administrateur / Vendeur  •  45 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415" y="26974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D4A8"/>
                </a:solidFill>
                <a:latin typeface="Arial"/>
              </a:rPr>
              <a:t>Objectifs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415" y="30175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Gérer son stock facilement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415" y="33375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Gagner du temps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415" y="36576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ED4DA"/>
                </a:solidFill>
                <a:latin typeface="Arial"/>
              </a:rPr>
              <a:t>✓  Satisfaire ses clients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415" y="4114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6B"/>
                </a:solidFill>
                <a:latin typeface="Arial"/>
              </a:rPr>
              <a:t>Frustrations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415" y="44348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DB5BD"/>
                </a:solidFill>
                <a:latin typeface="Arial"/>
              </a:rPr>
              <a:t>✗  Emails manuels répétitifs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415" y="4754879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DB5BD"/>
                </a:solidFill>
                <a:latin typeface="Arial"/>
              </a:rPr>
              <a:t>✗  Mises à jour Excel fastidieuses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83AC"/>
                </a:solidFill>
                <a:latin typeface="Arial"/>
              </a:rPr>
              <a:t>Charte Graphique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Identité visuelle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83AC"/>
                </a:solidFill>
                <a:latin typeface="Arial"/>
              </a:rPr>
              <a:t>PALETTE DE COULEURS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8B9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B5BD"/>
                </a:solidFill>
                <a:latin typeface="Arial"/>
              </a:rPr>
              <a:t>Noir
#0A0A0A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78308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8B9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6517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B5BD"/>
                </a:solidFill>
                <a:latin typeface="Arial"/>
              </a:rPr>
              <a:t>Blanc
#FFFFFF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8308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8B9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6517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B5BD"/>
                </a:solidFill>
                <a:latin typeface="Arial"/>
              </a:rPr>
              <a:t>Gris clair
#F5F5F5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83080"/>
            <a:ext cx="1188720" cy="777240"/>
          </a:xfrm>
          <a:prstGeom prst="roundRect">
            <a:avLst>
              <a:gd name="adj" fmla="val 10000"/>
            </a:avLst>
          </a:prstGeom>
          <a:solidFill>
            <a:srgbClr val="6B6B6B"/>
          </a:solidFill>
          <a:ln w="12700">
            <a:solidFill>
              <a:srgbClr val="8B9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DB5BD"/>
                </a:solidFill>
                <a:latin typeface="Arial"/>
              </a:rPr>
              <a:t>Gris
#6B6B6B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37160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🔤  Typographie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Police : Inter (Google Fonts)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Titres : 32-44px 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Corps : 16px Regular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2375" y="393192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8095" y="3977639"/>
            <a:ext cx="5394960" cy="173736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8095" y="3977639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2415" y="42519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🎨  Composants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415" y="475487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Boutons : fond noir, hover gris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415" y="5138927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Cartes : fond blanc, ombre légère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927D"/>
                </a:solidFill>
                <a:latin typeface="Arial"/>
              </a:rPr>
              <a:t>Zoning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Organisation des zones de l'interface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59E"/>
                </a:solidFill>
                <a:latin typeface="Arial"/>
              </a:rPr>
              <a:t>[Ajouter les images de zoning]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197FC"/>
                </a:solidFill>
                <a:latin typeface="Arial"/>
              </a:rPr>
              <a:t>Wireframes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Maquettes fil de 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59E"/>
                </a:solidFill>
                <a:latin typeface="Arial"/>
              </a:rPr>
              <a:t>[Ajouter les wireframes]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Maquettes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Design final de l'interface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959E"/>
                </a:solidFill>
                <a:latin typeface="Arial"/>
              </a:rPr>
              <a:t>[Ajouter les maquettes]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4C0FC"/>
                </a:solidFill>
                <a:latin typeface="Arial"/>
              </a:rPr>
              <a:t>Arborescence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Structure de navigation du 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boresc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4699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74C0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Technologies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Stack technique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4C0FC"/>
                </a:solidFill>
                <a:latin typeface="Arial"/>
              </a:rPr>
              <a:t>Stack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Technologies utilisées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⚛️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React 19 + TypeScript 5.9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Vite 7 (build tool)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React Router DOM (navigation)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Axios (requêtes HTTP)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Context API (état global)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☕ 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Spring Boot 3.5 + Java 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Spring Security +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Spring Data JPA (ORM)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PostgreSQL (base de données)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415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JavaMail (emails)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Architecture 3-tiers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Architecture Globale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Architecture 3-tiers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153194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Avantages de l'Architecture 3-Tiers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19" y="137160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🔀  Séparation des responsabilités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Chaque couche a un rôle précis et distinct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260604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B197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📈  Scalabilité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Possibilité de faire évoluer chaque couche indépendamment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384048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🔧  Maintenabilité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Modifications isolées sans impact sur les autres couches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19" y="5074920"/>
            <a:ext cx="11185855" cy="1097280"/>
          </a:xfrm>
          <a:prstGeom prst="roundRect">
            <a:avLst>
              <a:gd name="adj" fmla="val 8000"/>
            </a:avLst>
          </a:prstGeom>
          <a:solidFill>
            <a:srgbClr val="FFD93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76200" cy="100584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🧪  Testabilité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DB5BD"/>
                </a:solidFill>
                <a:latin typeface="Arial"/>
              </a:rPr>
              <a:t>Tests unitaires et d'intégration facilités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FFD93D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Conception &amp; Modélisation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MERISE et UML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93D"/>
                </a:solidFill>
                <a:latin typeface="Arial"/>
              </a:rPr>
              <a:t>Méthode MERISE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Modélisation de la base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11185855" cy="4389120"/>
          </a:xfrm>
          <a:prstGeom prst="roundRect">
            <a:avLst>
              <a:gd name="adj" fmla="val 8000"/>
            </a:avLst>
          </a:prstGeom>
          <a:solidFill>
            <a:srgbClr val="FFD93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94415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4415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📊  Les étapes de la méthode MERISE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MCD (Modèle Conceptuel de Données) : Représentation des entités et associations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MLD (Modèle Logique de Données) : Traduction en tables relationnelles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MPD (Modèle Physique de Données) : Implémentation SQL spécifique au SGBD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730752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Cette méthode permet une conception rigoureuse et progressive de la base de données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93D"/>
                </a:solidFill>
                <a:latin typeface="Arial"/>
              </a:rPr>
              <a:t>MCD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Modèle Conceptuel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c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24966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927D"/>
                </a:solidFill>
                <a:latin typeface="Arial"/>
              </a:rPr>
              <a:t>MLD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Modèle Logique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l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200525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6B6B"/>
                </a:solidFill>
                <a:latin typeface="Arial"/>
              </a:rPr>
              <a:t>MPD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Modèle Physique de Données - Script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p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15933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197FC"/>
                </a:solidFill>
                <a:latin typeface="Arial"/>
              </a:rPr>
              <a:t>Diagrammes UML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Unified Modeling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B197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47472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📐  Diagrammes utilisés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Cas d'utilisation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Diagramme de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Diagramme de séquence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71600"/>
            <a:ext cx="7528255" cy="438912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417320"/>
            <a:ext cx="7436815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417320"/>
            <a:ext cx="7436815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691640"/>
            <a:ext cx="6888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💡  Pourquoi UML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94560"/>
            <a:ext cx="688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Langage de modélisation standardisé et universel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578608"/>
            <a:ext cx="688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Facilite la communication entre développeurs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962656"/>
            <a:ext cx="688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Documente l'architecture du système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346703"/>
            <a:ext cx="688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Visualise la structure avant l'implémentation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730752"/>
            <a:ext cx="688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Indispensable pour la conception orientée objet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197FC"/>
                </a:solidFill>
                <a:latin typeface="Arial"/>
              </a:rPr>
              <a:t>Diagramme de Cas d'Utilisation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Interactions utilisateur-système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37313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D93D"/>
                </a:solidFill>
                <a:latin typeface="Arial"/>
              </a:rPr>
              <a:t>Diagramme de Classes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Relations : composition et agrégation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127906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Diagramme de Séquence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Ajout d'un produit au panier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08760"/>
            <a:ext cx="9448495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45920"/>
            <a:ext cx="9082735" cy="63579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F783A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Sécurité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Authentification et autorisation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783AC"/>
                </a:solidFill>
                <a:latin typeface="Arial"/>
              </a:rPr>
              <a:t>Sécurité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Protection de l'application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🔐  Authentification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JWT (JSON Web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Token stocké en 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Expiration : 24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BCrypt (hashage mots de passe)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Validation des entrées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783A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F783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🛡️  Autorisation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Rôles : CLIENT,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Routes protégées (PrivateRoute)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Filtre JWT côté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CORS configuré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415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@PreAuthorize sur endpoints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FF927D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Fonctionnalités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Features clés de l'application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Gestion du Panier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Double persistance selon connexion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8B959E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8B9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💾  Mode Non Connecté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Stockage localStorage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Persistance côté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2375" y="13716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4173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☁️  Mode Connecté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Stockage en BDD (Order PENDING)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Synchronisation temps réel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474720"/>
            <a:ext cx="11185855" cy="228600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520440"/>
            <a:ext cx="11094415" cy="219456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1094415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79476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✨  Caractéristiques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297680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Fusion automatique du panier local à la connexion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681728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Vérification du stock en temps réel avant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065776"/>
            <a:ext cx="105457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Email de confirmation automatique après commande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74C0FC"/>
                </a:solidFill>
                <a:latin typeface="Arial"/>
              </a:rPr>
              <a:t>Code : Ajout au Panier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CartContext.tsx - Fonction addToCart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389120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 w="12700">
            <a:solidFill>
              <a:srgbClr val="8B9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D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ED4DA"/>
                </a:solidFill>
                <a:latin typeface="Arial"/>
              </a:rPr>
              <a:t>📄 CartContext.tsx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D4D4D4"/>
                </a:solidFill>
                <a:latin typeface="Consolas"/>
              </a:rPr>
              <a:t>const addToCart = useCallback(async (product: Product, quantity: number) =&gt; {
  setError(null);
  const isAuth = getIsAuthenticated();
  const email = getUserEmail();
  if (isAuth &amp;&amp; email) {
    // Mode connecté : API Backend
    setIsLoading(true);
    try {
      const updatedCart = await cartApiService.addItem(email, {
        productCode: product.productCode,
        quantity
      });
      setItems(convertBackendItems(updatedCart.items));
    } catch (err) {
      setError('Erreur lors de l\'ajout au panier');
    } finally {
      setIsLoading(false);
    }
  } else {
    // Mode non connecté : localStorage
    setItems(prevItems =&gt; {
      const existingItem = prevItems.find(
        item =&gt; item.product.productCode === product.productCode
      );
      if (existingItem) {
        return prevItems.map(item =&gt;
          item.product.productCode === product.productCode
            ? { ...item, quantity: Math.min(item.quantity + quantity, product.stock) }
            : item
        );
      }
      return [...prevItems, { product, quantity }];
    });
  }
}, []);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1031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→ Vérification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747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→ Appel API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84632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→ Fallback localStorage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B197FC"/>
                </a:solidFill>
                <a:latin typeface="Arial"/>
              </a:rPr>
              <a:t>Génération du Code Produit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Identifiant unique automatique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6705295" cy="548640"/>
          </a:xfrm>
          <a:prstGeom prst="roundRect">
            <a:avLst>
              <a:gd name="adj" fmla="val 15000"/>
            </a:avLst>
          </a:prstGeom>
          <a:solidFill>
            <a:srgbClr val="242830"/>
          </a:solidFill>
          <a:ln w="25400">
            <a:solidFill>
              <a:srgbClr val="B19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481328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197FC"/>
                </a:solidFill>
                <a:latin typeface="Arial"/>
              </a:rPr>
              <a:t>XXX – TTT – MMM – YYYY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246888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4C0FC"/>
                </a:solidFill>
                <a:latin typeface="Arial"/>
              </a:rPr>
              <a:t>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Marque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B5BD"/>
                </a:solidFill>
                <a:latin typeface="Arial"/>
              </a:rPr>
              <a:t>CHA, 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148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B197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19456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2194560"/>
            <a:ext cx="246888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197FC"/>
                </a:solidFill>
                <a:latin typeface="Arial"/>
              </a:rPr>
              <a:t>TTT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B5BD"/>
                </a:solidFill>
                <a:latin typeface="Arial"/>
              </a:rPr>
              <a:t>EDP, EDT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148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19456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2194560"/>
            <a:ext cx="246888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D4A8"/>
                </a:solidFill>
                <a:latin typeface="Arial"/>
              </a:rPr>
              <a:t>MMM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Taille (ml)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B5BD"/>
                </a:solidFill>
                <a:latin typeface="Arial"/>
              </a:rPr>
              <a:t>050, 100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148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D93D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61120" y="2194560"/>
            <a:ext cx="2468880" cy="1280160"/>
          </a:xfrm>
          <a:prstGeom prst="roundRect">
            <a:avLst>
              <a:gd name="adj" fmla="val 6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61120" y="2194560"/>
            <a:ext cx="2468880" cy="6350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331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93D"/>
                </a:solidFill>
                <a:latin typeface="Arial"/>
              </a:rPr>
              <a:t>YYYY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Séquentiel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0632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DB5BD"/>
                </a:solidFill>
                <a:latin typeface="Arial"/>
              </a:rPr>
              <a:t>0001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3749039"/>
            <a:ext cx="7619695" cy="1188720"/>
          </a:xfrm>
          <a:prstGeom prst="roundRect">
            <a:avLst>
              <a:gd name="adj" fmla="val 6000"/>
            </a:avLst>
          </a:prstGeom>
          <a:solidFill>
            <a:srgbClr val="2D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3977639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Exemple :  CHA-EDP-100-0001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38912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DB5BD"/>
                </a:solidFill>
                <a:latin typeface="Arial"/>
              </a:rPr>
              <a:t>Chanel N°5 Eau de Parfum 100ml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572000"/>
            <a:ext cx="2743200" cy="2743200"/>
          </a:xfrm>
          <a:prstGeom prst="ellipse">
            <a:avLst/>
          </a:prstGeom>
          <a:solidFill>
            <a:srgbClr val="B197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-457200"/>
            <a:ext cx="2286000" cy="2286000"/>
          </a:xfrm>
          <a:prstGeom prst="ellipse">
            <a:avLst/>
          </a:prstGeom>
          <a:solidFill>
            <a:srgbClr val="6BD4A8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09590" y="1828800"/>
            <a:ext cx="1371600" cy="640080"/>
          </a:xfrm>
          <a:prstGeom prst="roundRect">
            <a:avLst>
              <a:gd name="adj" fmla="val 3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9590" y="19385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Démonstration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390" y="36576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B19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Application en live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6BD4A8"/>
                </a:solidFill>
                <a:latin typeface="Arial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59E"/>
                </a:solidFill>
                <a:latin typeface="Arial"/>
              </a:rPr>
              <a:t>Bilan et perspectives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6BD4A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6BD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✅  Réalisations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Frontend React 19 moderne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Backend Spring Boot 3.5 robuste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Base de données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Sécurité JWT + BCrypt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Code maintenable et documenté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37160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74C0FC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417320"/>
            <a:ext cx="5394960" cy="4297680"/>
          </a:xfrm>
          <a:prstGeom prst="roundRect">
            <a:avLst>
              <a:gd name="adj" fmla="val 4000"/>
            </a:avLst>
          </a:prstGeom>
          <a:solidFill>
            <a:srgbClr val="24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417320"/>
            <a:ext cx="5394960" cy="63500"/>
          </a:xfrm>
          <a:prstGeom prst="roundRect">
            <a:avLst>
              <a:gd name="adj" fmla="val 50000"/>
            </a:avLst>
          </a:prstGeom>
          <a:solidFill>
            <a:srgbClr val="74C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2415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🚀  Évolutions possibles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415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Paiement en ligne (Stripe)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415" y="2578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Tests E2E (Cypress)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415" y="2962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CI/CD (GitHub Actions)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415" y="3346703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PWA (Progressive Web App)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415" y="37307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ED4DA"/>
                </a:solidFill>
                <a:latin typeface="Arial"/>
              </a:rPr>
              <a:t>•  Application mobile native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F783A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74C0FC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2286000" cy="2286000"/>
          </a:xfrm>
          <a:prstGeom prst="ellipse">
            <a:avLst/>
          </a:prstGeom>
          <a:solidFill>
            <a:srgbClr val="FFD93D">
              <a:lumMod val="25000"/>
              <a:lumOff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6B6B"/>
                </a:solidFill>
                <a:latin typeface="Arial"/>
              </a:rPr>
              <a:t>Questions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2390" y="32004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DB5BD"/>
                </a:solidFill>
                <a:latin typeface="Arial"/>
              </a:rP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